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13"/>
  </p:notesMasterIdLst>
  <p:handoutMasterIdLst>
    <p:handoutMasterId r:id="rId14"/>
  </p:handoutMasterIdLst>
  <p:sldIdLst>
    <p:sldId id="1520" r:id="rId5"/>
    <p:sldId id="1531" r:id="rId6"/>
    <p:sldId id="1535" r:id="rId7"/>
    <p:sldId id="1541" r:id="rId8"/>
    <p:sldId id="1523" r:id="rId9"/>
    <p:sldId id="1536" r:id="rId10"/>
    <p:sldId id="1539" r:id="rId11"/>
    <p:sldId id="152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0"/>
    <p:restoredTop sz="94616"/>
  </p:normalViewPr>
  <p:slideViewPr>
    <p:cSldViewPr snapToGrid="0">
      <p:cViewPr>
        <p:scale>
          <a:sx n="100" d="100"/>
          <a:sy n="100" d="100"/>
        </p:scale>
        <p:origin x="-1277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theme" Target="theme/theme1.xml" /><Relationship Id="rId2" Type="http://schemas.openxmlformats.org/officeDocument/2006/relationships/customXml" Target="../customXml/item2.xml" /><Relationship Id="rId16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presProps" Target="presProps.xml" /><Relationship Id="rId10" Type="http://schemas.openxmlformats.org/officeDocument/2006/relationships/slide" Target="slides/slide6.xml" /><Relationship Id="rId19" Type="http://schemas.microsoft.com/office/2018/10/relationships/authors" Target="author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handoutMaster" Target="handoutMasters/handout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Master" Target="../slideMasters/slideMaster1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.xml" 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Master" Target="../slideMasters/slideMaster1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335373"/>
            <a:ext cx="10478450" cy="7315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C9A669-A9A2-C81A-7659-2BE084D43C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B6C58C-A09F-CD8C-3AD4-3613FA8617A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7057" y="451993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9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75" y="831439"/>
            <a:ext cx="10440990" cy="113225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75" y="2103120"/>
            <a:ext cx="10440989" cy="357729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C4ECD9-5950-288D-F0E8-15AB93A0C1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532546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5760" y="0"/>
            <a:ext cx="4206240" cy="6858000"/>
          </a:xfrm>
          <a:blipFill dpi="0" rotWithShape="1">
            <a:blip r:embed="rId2">
              <a:alphaModFix amt="60000"/>
            </a:blip>
            <a:srcRect/>
            <a:stretch>
              <a:fillRect l="-56812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EFB6B4-A1CA-B788-D366-460FCF81670F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164" y="189337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832850"/>
            <a:ext cx="7478991" cy="3635797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4526561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969981-6F14-05AD-84BE-60811ABC8EEF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97280"/>
            <a:ext cx="7876287" cy="359262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057409"/>
            <a:ext cx="7375466" cy="101498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D914E6-8049-9561-C97E-2ED8FCDB89E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5403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AB9D02-BDB0-5420-CBA2-3044DDB6D79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6077712" y="67962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7FFBE8-95FC-A978-8212-6B5D8F34CC6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047762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461" y="1561943"/>
            <a:ext cx="4681728" cy="456982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DA51E07-C561-85B3-141B-4157C0521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5994" cy="6858000"/>
          </a:xfr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8470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10107029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6336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4800600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85F708B-992C-821E-50D2-07A27EDFA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6" y="0"/>
            <a:ext cx="609599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5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9F53EAF-F066-AFDA-2C25-8F96143C7AF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2380995"/>
            <a:ext cx="8869680" cy="329184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52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 anchor="b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752392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848" y="80351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2150" y="799483"/>
            <a:ext cx="4429566" cy="365125"/>
          </a:xfrm>
        </p:spPr>
        <p:txBody>
          <a:bodyPr/>
          <a:lstStyle>
            <a:lvl1pPr algn="ctr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6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3234184" cy="4202629"/>
          </a:xfrm>
        </p:spPr>
        <p:txBody>
          <a:bodyPr anchor="ctr" anchorCtr="0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524" y="1353163"/>
            <a:ext cx="3596952" cy="4151675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79576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3816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8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4732B46-F1F0-7522-FC25-AABA628DA30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104188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4552002"/>
            <a:ext cx="4663440" cy="1554480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2FFB4D-B5E7-3882-7509-50FC147AD0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3544" y="941832"/>
            <a:ext cx="4179742" cy="2992856"/>
          </a:xfrm>
          <a:blipFill dpi="0" rotWithShape="1">
            <a:blip r:embed="rId3">
              <a:alphaModFix amt="60000"/>
            </a:blip>
            <a:srcRect/>
            <a:stretch>
              <a:fillRect l="-3918" t="-835" b="-338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6682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5388" y="2718978"/>
            <a:ext cx="4663440" cy="3337560"/>
          </a:xfrm>
        </p:spPr>
        <p:txBody>
          <a:bodyPr anchor="b" anchorCtr="0"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87598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1C55ED2-79AB-08DC-6DCF-C07F6CBD227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189" y="1217512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04" y="2385975"/>
            <a:ext cx="4325112" cy="24547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98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6383B9E-F152-84FC-BD1D-4F84C5670DA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57799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" y="2819320"/>
            <a:ext cx="4372547" cy="28346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0E68BA-9AEE-909E-56B9-A14C4D9AD3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2171156"/>
          </a:xfrm>
          <a:blipFill dpi="0" rotWithShape="1">
            <a:blip r:embed="rId3">
              <a:alphaModFix amt="60000"/>
            </a:blip>
            <a:srcRect/>
            <a:stretch>
              <a:fillRect l="1" t="1" r="-5" b="-376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15002"/>
            <a:ext cx="5162550" cy="283464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53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2"/>
            <a:ext cx="4145582" cy="46388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7419" y="848517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66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59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50392"/>
            <a:ext cx="4142232" cy="494066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7607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66305"/>
            <a:ext cx="6159500" cy="53908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882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476817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65504"/>
            <a:ext cx="6766560" cy="5093862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800"/>
            </a:lvl1pPr>
            <a:lvl2pPr>
              <a:lnSpc>
                <a:spcPct val="90000"/>
              </a:lnSpc>
              <a:defRPr sz="16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1192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209" y="868680"/>
            <a:ext cx="6093225" cy="11430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37529" cy="6858000"/>
          </a:xfrm>
          <a:blipFill dpi="0" rotWithShape="1">
            <a:blip r:embed="rId2">
              <a:alphaModFix amt="60000"/>
            </a:blip>
            <a:srcRect/>
            <a:stretch>
              <a:fillRect r="-8031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9833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6209" y="2017058"/>
            <a:ext cx="6071616" cy="44897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23774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903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90472" y="457200"/>
            <a:ext cx="184708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2057402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3081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54" y="829325"/>
            <a:ext cx="6858000" cy="932688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29000" cy="6858000"/>
          </a:xfrm>
          <a:blipFill dpi="0" rotWithShape="1">
            <a:blip r:embed="rId2">
              <a:alphaModFix amt="60000"/>
            </a:blip>
            <a:srcRect/>
            <a:stretch>
              <a:fillRect r="-17333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5476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8854" y="1878456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3637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46" y="4257446"/>
            <a:ext cx="4297661" cy="1852154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2A913F-34E8-6AA3-93B1-82EC2684015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6348844" y="5660464"/>
            <a:ext cx="36576" cy="521208"/>
          </a:xfrm>
          <a:prstGeom prst="rect">
            <a:avLst/>
          </a:prstGeom>
        </p:spPr>
      </p:pic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9DF44A2-0708-C962-D4F6-461FBBBE26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5034" y="849445"/>
            <a:ext cx="4173673" cy="2913664"/>
          </a:xfrm>
          <a:blipFill dpi="0" rotWithShape="1">
            <a:blip r:embed="rId3">
              <a:alphaModFix amt="60000"/>
            </a:blip>
            <a:srcRect/>
            <a:stretch>
              <a:fillRect b="15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12179" y="849444"/>
            <a:ext cx="5295472" cy="483489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5719845"/>
            <a:ext cx="1847088" cy="38975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28411" y="5746499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4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38" y="832804"/>
            <a:ext cx="436168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8975" y="246780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7542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23" y="2132530"/>
            <a:ext cx="4961795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A2C06F4-46D4-E31A-FE24-FA262F3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09016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D34A61-0B4C-7668-21C4-92101CEE4BE3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267" y="1217512"/>
            <a:ext cx="36576" cy="5212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3023" y="3788229"/>
            <a:ext cx="4961795" cy="191922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6428" y="572028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3273" y="5720287"/>
            <a:ext cx="2805405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80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094" y="825703"/>
            <a:ext cx="4522936" cy="932688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48429" y="1789540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98587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73104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585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2618" y="457200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1933808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CD55653-C8C9-068F-CF5A-7E1436D7E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962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0726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298" y="83160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038109" cy="6858000"/>
          </a:xfrm>
          <a:blipFill dpi="0" rotWithShape="1">
            <a:blip r:embed="rId2">
              <a:alphaModFix amt="60000"/>
            </a:blip>
            <a:srcRect/>
            <a:stretch>
              <a:fillRect r="-7758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6425" y="2379232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9857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9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269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457200"/>
            <a:ext cx="184708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377440"/>
            <a:ext cx="3401568" cy="40957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0093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417" y="822516"/>
            <a:ext cx="3273552" cy="1942773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220197" cy="6858000"/>
          </a:xfrm>
          <a:blipFill dpi="0" rotWithShape="1">
            <a:blip r:embed="rId2">
              <a:alphaModFix amt="60000"/>
            </a:blip>
            <a:srcRect/>
            <a:stretch>
              <a:fillRect l="1" r="-7773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411" y="2778536"/>
            <a:ext cx="3273552" cy="29260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7743" y="571464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7220" y="5715000"/>
            <a:ext cx="2335165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92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4299577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692106"/>
          </a:xfrm>
          <a:blipFill dpi="0" rotWithShape="1">
            <a:blip r:embed="rId2">
              <a:alphaModFix amt="60000"/>
            </a:blip>
            <a:srcRect/>
            <a:stretch>
              <a:fillRect t="-1" b="-25541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299576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69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791259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141683"/>
          </a:xfrm>
          <a:blipFill dpi="0" rotWithShape="1">
            <a:blip r:embed="rId2">
              <a:alphaModFix amt="60000"/>
            </a:blip>
            <a:srcRect/>
            <a:stretch>
              <a:fillRect t="2" b="-20264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791259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0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23" y="833527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833527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83993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3503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210" y="1828800"/>
            <a:ext cx="5701655" cy="40882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047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4645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2971800"/>
            <a:ext cx="4219217" cy="2968589"/>
          </a:xfrm>
          <a:blipFill dpi="0" rotWithShape="1">
            <a:blip r:embed="rId2">
              <a:alphaModFix amt="60000"/>
            </a:blip>
            <a:srcRect/>
            <a:stretch>
              <a:fillRect l="148" t="-11888" r="-148" b="-11048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4950" y="838031"/>
            <a:ext cx="5585925" cy="57832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61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8825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73" y="2662694"/>
            <a:ext cx="2826675" cy="327330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84806-6EE6-E9E7-C756-577E511C94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E95BE-BAAA-0962-1F37-8E80B5075B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8493" y="840587"/>
            <a:ext cx="6561138" cy="60350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804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88" y="4318002"/>
            <a:ext cx="3741303" cy="1727191"/>
          </a:xfrm>
        </p:spPr>
        <p:txBody>
          <a:bodyPr anchor="b" anchorCtr="0">
            <a:normAutofit/>
          </a:bodyPr>
          <a:lstStyle>
            <a:lvl1pPr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603503"/>
            <a:ext cx="10535513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2892AD-A824-80C0-23D0-A50E8E6086C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21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0ABD31F-6790-1046-FAA9-F005395197D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074" y="4520514"/>
            <a:ext cx="7525512" cy="1545336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912730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3D60A-2641-9137-7CFC-67D9635788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9D38F-DE10-E2BB-5C22-9A8C0781F1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47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98" y="1318437"/>
            <a:ext cx="4368688" cy="4747413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1318437"/>
            <a:ext cx="5318760" cy="533542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17F8DEA-3543-B752-B9E3-AC000CAB4672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2F7EA-5D69-7C1B-CCA8-B001A58AE3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722163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5CC0F-ADA3-ABFA-0894-792752304D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722163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52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17F66D-47D7-5FE5-3A3F-34A22FF6A16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58436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402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9366FF-A392-C240-F718-4B73E04621E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 algn="ctr">
              <a:lnSpc>
                <a:spcPct val="100000"/>
              </a:lnSpc>
              <a:buNone/>
              <a:defRPr sz="3600" b="1" i="0" cap="all" spc="50" baseline="0">
                <a:latin typeface="+mj-lt"/>
                <a:cs typeface="Poppins" pitchFamily="2" charset="77"/>
              </a:defRPr>
            </a:lvl2pPr>
            <a:lvl3pPr marL="457200" indent="0" algn="ctr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3pPr>
            <a:lvl4pPr marL="685800" indent="0" algn="ctr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4pPr>
            <a:lvl5pPr marL="914400" indent="0" algn="ctr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514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20A179-8E3E-2B95-A97F-C6829695293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8148" y="921438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3816" y="1996848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49345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681" y="760672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584083-25C0-4BCD-77BF-0F4B50C89CE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0986884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9D7C9-2DBC-E12A-4A0F-59AD76DB11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58948-847F-22CD-2AA2-CF3475976F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04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0" y="5601041"/>
            <a:ext cx="822960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25C941-1D26-5955-DC05-31D96A1D00E3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0983213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2280" y="776028"/>
            <a:ext cx="8229600" cy="45720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79534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802977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3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444" y="457200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7720" y="9448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286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23" y="829551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723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9148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8868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615443"/>
            <a:ext cx="3437583" cy="409920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7FBFB58-BD7D-0E9B-7D02-1BE0CDCEA4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1840" y="1615442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8775" y="3945380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887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830733"/>
            <a:ext cx="10439463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625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0246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625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0246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72012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3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831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7531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2605036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868" y="842371"/>
            <a:ext cx="6440258" cy="575510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67161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9466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3163019"/>
            <a:ext cx="3585586" cy="343463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89154" y="894665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934634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59436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5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6874"/>
            <a:ext cx="10467653" cy="2743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099A399-8358-4832-8F28-17D6ED3E74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5885543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36967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648"/>
            <a:ext cx="8430767" cy="1842020"/>
          </a:xfrm>
        </p:spPr>
        <p:txBody>
          <a:bodyPr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717420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13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3392"/>
            <a:ext cx="10467653" cy="176953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74E4BF-A9CB-F772-DFA6-C511FFC554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4495800"/>
            <a:ext cx="12191999" cy="2362200"/>
          </a:xfrm>
          <a:blipFill dpi="0" rotWithShape="1">
            <a:blip r:embed="rId2">
              <a:alphaModFix amt="60000"/>
            </a:blip>
            <a:srcRect/>
            <a:stretch>
              <a:fillRect l="1" t="-200" r="-5" b="-346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06393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50" Type="http://schemas.openxmlformats.org/officeDocument/2006/relationships/slideLayout" Target="../slideLayouts/slideLayout50.xml" /><Relationship Id="rId55" Type="http://schemas.openxmlformats.org/officeDocument/2006/relationships/slideLayout" Target="../slideLayouts/slideLayout55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54" Type="http://schemas.openxmlformats.org/officeDocument/2006/relationships/slideLayout" Target="../slideLayouts/slideLayout54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3" Type="http://schemas.openxmlformats.org/officeDocument/2006/relationships/slideLayout" Target="../slideLayouts/slideLayout53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slideLayout" Target="../slideLayouts/slideLayout49.xml" /><Relationship Id="rId57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52" Type="http://schemas.openxmlformats.org/officeDocument/2006/relationships/slideLayout" Target="../slideLayouts/slideLayout52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56" Type="http://schemas.openxmlformats.org/officeDocument/2006/relationships/slideLayout" Target="../slideLayouts/slideLayout56.xml" /><Relationship Id="rId8" Type="http://schemas.openxmlformats.org/officeDocument/2006/relationships/slideLayout" Target="../slideLayouts/slideLayout8.xml" /><Relationship Id="rId51" Type="http://schemas.openxmlformats.org/officeDocument/2006/relationships/slideLayout" Target="../slideLayouts/slideLayout51.xml" /><Relationship Id="rId3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609" y="1715532"/>
            <a:ext cx="10447125" cy="412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476" y="571464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6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828" r:id="rId10"/>
    <p:sldLayoutId id="2147483780" r:id="rId11"/>
    <p:sldLayoutId id="2147483781" r:id="rId12"/>
    <p:sldLayoutId id="2147483826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827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  <p:sldLayoutId id="2147483807" r:id="rId38"/>
    <p:sldLayoutId id="2147483808" r:id="rId39"/>
    <p:sldLayoutId id="2147483809" r:id="rId40"/>
    <p:sldLayoutId id="2147483810" r:id="rId41"/>
    <p:sldLayoutId id="2147483811" r:id="rId42"/>
    <p:sldLayoutId id="2147483812" r:id="rId43"/>
    <p:sldLayoutId id="2147483813" r:id="rId44"/>
    <p:sldLayoutId id="2147483814" r:id="rId45"/>
    <p:sldLayoutId id="2147483815" r:id="rId46"/>
    <p:sldLayoutId id="2147483816" r:id="rId47"/>
    <p:sldLayoutId id="2147483817" r:id="rId48"/>
    <p:sldLayoutId id="2147483818" r:id="rId49"/>
    <p:sldLayoutId id="2147483819" r:id="rId50"/>
    <p:sldLayoutId id="2147483820" r:id="rId51"/>
    <p:sldLayoutId id="2147483821" r:id="rId52"/>
    <p:sldLayoutId id="2147483822" r:id="rId53"/>
    <p:sldLayoutId id="2147483823" r:id="rId54"/>
    <p:sldLayoutId id="2147483825" r:id="rId55"/>
    <p:sldLayoutId id="2147483824" r:id="rId5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50" baseline="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4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34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0.xml" /><Relationship Id="rId4" Type="http://schemas.openxmlformats.org/officeDocument/2006/relationships/hyperlink" Target="https://drive.google.com/drive/folders/11eElB07ZsLnkHMbtgufCYSfXIGI6kjfP?usp=sharing" TargetMode="Externa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0.xml" /><Relationship Id="rId4" Type="http://schemas.openxmlformats.org/officeDocument/2006/relationships/image" Target="../media/image2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goals.org/goals/2-zero-hunger/" TargetMode="External" /><Relationship Id="rId2" Type="http://schemas.openxmlformats.org/officeDocument/2006/relationships/hyperlink" Target="https://www.un.org/sustainabledevelopment/hunger/" TargetMode="External" /><Relationship Id="rId1" Type="http://schemas.openxmlformats.org/officeDocument/2006/relationships/slideLayout" Target="../slideLayouts/slideLayout16.xml" /><Relationship Id="rId6" Type="http://schemas.openxmlformats.org/officeDocument/2006/relationships/hyperlink" Target="https://github.com/Sandip-Maity-2023/Zero" TargetMode="External" /><Relationship Id="rId5" Type="http://schemas.openxmlformats.org/officeDocument/2006/relationships/hyperlink" Target="https://zero-ruby-eight.vercel.app/login" TargetMode="External" /><Relationship Id="rId4" Type="http://schemas.openxmlformats.org/officeDocument/2006/relationships/image" Target="../media/image26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BEB139-49D2-8D04-86D2-09C06D00D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632" y="1015382"/>
            <a:ext cx="7134561" cy="325836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ea typeface="+mj-lt"/>
                <a:cs typeface="+mj-lt"/>
              </a:rPr>
              <a:t>Zero Hunger: Digital Food-Aid Supply Chain Platform</a:t>
            </a: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sz="3100" b="0" dirty="0">
                <a:ea typeface="+mj-lt"/>
                <a:cs typeface="+mj-lt"/>
              </a:rPr>
              <a:t>UN Sustainable Development Goal 2 (Zero Hunger)</a:t>
            </a:r>
            <a:br>
              <a:rPr lang="en-US" b="0" dirty="0">
                <a:ea typeface="+mj-lt"/>
                <a:cs typeface="+mj-lt"/>
              </a:rPr>
            </a:br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8D9FA2-302E-0315-171F-48BC54215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633" y="4069083"/>
            <a:ext cx="7134559" cy="1065903"/>
          </a:xfrm>
        </p:spPr>
        <p:txBody>
          <a:bodyPr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Bridging the Gap Between Surplus Food and Community Need</a:t>
            </a:r>
            <a:endParaRPr lang="en-US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DD13310E-0FDB-12DC-3E02-ED0261ABAB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7211579" y="282063"/>
            <a:ext cx="4864966" cy="398478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96DA9E-3E1A-73D6-CC2E-B2D539884276}"/>
              </a:ext>
            </a:extLst>
          </p:cNvPr>
          <p:cNvSpPr txBox="1"/>
          <p:nvPr/>
        </p:nvSpPr>
        <p:spPr>
          <a:xfrm>
            <a:off x="1144079" y="5469333"/>
            <a:ext cx="657226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 dirty="0">
                <a:solidFill>
                  <a:srgbClr val="0070C0"/>
                </a:solidFill>
                <a:ea typeface="+mn-lt"/>
                <a:cs typeface="+mn-lt"/>
              </a:rPr>
              <a:t>Presenter Name: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 Sandip Maity</a:t>
            </a:r>
            <a:endParaRPr lang="en-US" sz="2800" dirty="0">
              <a:solidFill>
                <a:srgbClr val="0070C0"/>
              </a:solidFill>
              <a:cs typeface="Poppins Ligh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solidFill>
                  <a:srgbClr val="0070C0"/>
                </a:solidFill>
                <a:ea typeface="+mn-lt"/>
                <a:cs typeface="+mn-lt"/>
              </a:rPr>
              <a:t>College Name: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 Adamas University</a:t>
            </a:r>
            <a:endParaRPr lang="en-US" sz="2800" dirty="0">
              <a:solidFill>
                <a:srgbClr val="0070C0"/>
              </a:solidFill>
              <a:cs typeface="Poppins Light"/>
            </a:endParaRPr>
          </a:p>
          <a:p>
            <a:pPr algn="l"/>
            <a:endParaRPr lang="en-US" sz="2800" dirty="0">
              <a:solidFill>
                <a:srgbClr val="0070C0"/>
              </a:solidFill>
              <a:cs typeface="Poppins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F6F24-81D9-C542-779D-DEAF6879F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136" y="4392469"/>
            <a:ext cx="2055092" cy="24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70BCB1-1398-488A-AB5B-1A8A2227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82" y="804814"/>
            <a:ext cx="11552782" cy="116491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200" b="0" dirty="0">
                <a:solidFill>
                  <a:srgbClr val="0070C0"/>
                </a:solidFill>
                <a:ea typeface="+mj-lt"/>
                <a:cs typeface="+mj-lt"/>
              </a:rPr>
              <a:t>Problem Statement &amp; Motivation</a:t>
            </a:r>
            <a:br>
              <a:rPr lang="en-US" sz="2200" b="0" dirty="0">
                <a:ea typeface="+mj-lt"/>
                <a:cs typeface="+mj-lt"/>
              </a:rPr>
            </a:br>
            <a:br>
              <a:rPr lang="en-US" sz="2200" b="0" dirty="0">
                <a:ea typeface="+mj-lt"/>
                <a:cs typeface="+mj-lt"/>
              </a:rPr>
            </a:br>
            <a:r>
              <a:rPr lang="en-US" sz="2200" b="0" cap="none" dirty="0">
                <a:ea typeface="+mj-lt"/>
                <a:cs typeface="+mj-lt"/>
              </a:rPr>
              <a:t>Food Insecurity Is Primarily A Coordination Failure Where Surplus Food Goes To Waste While Vulnerable Communities Lack A Unified Digital Tracking System To Bridge The Gap.</a:t>
            </a:r>
            <a:br>
              <a:rPr lang="en-US" sz="2200" b="0" dirty="0">
                <a:ea typeface="+mj-lt"/>
                <a:cs typeface="+mj-lt"/>
              </a:rPr>
            </a:br>
            <a:endParaRPr lang="en-US" sz="22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E95F89-8477-A56E-8577-D59A3A670E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40840" y="2196933"/>
            <a:ext cx="5338515" cy="42848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ea typeface="+mn-lt"/>
                <a:cs typeface="+mn-lt"/>
              </a:rPr>
              <a:t>KEY CHALLENGES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Massive surplus food goes to waste daily in restaurants, events, and corporate canteens.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Vulnerable communities and shelters struggle with food insecurity due to lack of real-time visibility.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Fragmented communication (phone calls, ad-hoc messaging) leads to logistical breakdowns and delayed pickups.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b="1" dirty="0">
                <a:solidFill>
                  <a:srgbClr val="0070C0"/>
                </a:solidFill>
                <a:ea typeface="+mn-lt"/>
                <a:cs typeface="+mn-lt"/>
              </a:rPr>
              <a:t>OBJECTIVE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Build a unified, transparent, and scalable digital platform to streamline food rescue operations.</a:t>
            </a:r>
            <a:endParaRPr lang="en-US" dirty="0"/>
          </a:p>
          <a:p>
            <a:pPr marL="285750" indent="-285750">
              <a:buFont typeface="Wingdings" panose="020B0604020202020204" pitchFamily="34" charset="0"/>
              <a:buChar char="q"/>
            </a:pP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22F2B0A-20FF-E0C8-36F8-08C0BC14228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515" r="3515"/>
          <a:stretch/>
        </p:blipFill>
        <p:spPr>
          <a:xfrm>
            <a:off x="429046" y="2194142"/>
            <a:ext cx="5670340" cy="4130051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9307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34F1-7C98-C1DA-D26C-8FB7C860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21" y="307490"/>
            <a:ext cx="6414290" cy="1863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0" dirty="0">
                <a:solidFill>
                  <a:srgbClr val="0070C0"/>
                </a:solidFill>
                <a:ea typeface="+mj-lt"/>
                <a:cs typeface="+mj-lt"/>
              </a:rPr>
              <a:t>Solution Overview &amp; Features</a:t>
            </a:r>
            <a:br>
              <a:rPr lang="en-US" sz="2800" b="0" dirty="0">
                <a:solidFill>
                  <a:srgbClr val="0070C0"/>
                </a:solidFill>
                <a:ea typeface="+mj-lt"/>
                <a:cs typeface="+mj-lt"/>
              </a:rPr>
            </a:br>
            <a:br>
              <a:rPr lang="en-US" sz="2800" b="0" dirty="0">
                <a:solidFill>
                  <a:srgbClr val="0070C0"/>
                </a:solidFill>
                <a:ea typeface="+mj-lt"/>
                <a:cs typeface="+mj-lt"/>
              </a:rPr>
            </a:br>
            <a:r>
              <a:rPr lang="en-US" sz="1800" b="0" cap="none" dirty="0">
                <a:ea typeface="+mj-lt"/>
                <a:cs typeface="+mj-lt"/>
              </a:rPr>
              <a:t>A Full-stack Web Application That Digitizes The Entire Food-aid Supply Chain, Connecting Surplus Food Sources With Communities That Need It Most.</a:t>
            </a:r>
            <a:endParaRPr lang="en-US" sz="1800" cap="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8861A-F2ED-EECF-9396-EA450E5E30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147" y="2114911"/>
            <a:ext cx="6408793" cy="44321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Core Features:</a:t>
            </a:r>
            <a:endParaRPr lang="en-US" sz="2400"/>
          </a:p>
          <a:p>
            <a:pPr marL="285750" indent="-285750"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Role-Based Access Control (RBAC):</a:t>
            </a:r>
            <a:r>
              <a:rPr lang="en-US" dirty="0">
                <a:ea typeface="+mn-lt"/>
                <a:cs typeface="+mn-lt"/>
              </a:rPr>
              <a:t> Customized dashboards for Organizers, Donors, Volunteers, and Admins.</a:t>
            </a:r>
            <a:endParaRPr lang="en-US" dirty="0"/>
          </a:p>
          <a:p>
            <a:pPr marL="285750" indent="-285750"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Real-Time Request Matching:</a:t>
            </a:r>
            <a:r>
              <a:rPr lang="en-US" dirty="0">
                <a:ea typeface="+mn-lt"/>
                <a:cs typeface="+mn-lt"/>
              </a:rPr>
              <a:t> Instant posting and browsing of food-aid requirements with headcount and location data.</a:t>
            </a:r>
            <a:endParaRPr lang="en-US" dirty="0"/>
          </a:p>
          <a:p>
            <a:pPr marL="285750" indent="-285750"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End-to-End Tracking:</a:t>
            </a:r>
            <a:r>
              <a:rPr lang="en-US" dirty="0">
                <a:ea typeface="+mn-lt"/>
                <a:cs typeface="+mn-lt"/>
              </a:rPr>
              <a:t> Live tracking of donation status from pledge to final delivery.</a:t>
            </a:r>
            <a:endParaRPr lang="en-US" dirty="0"/>
          </a:p>
          <a:p>
            <a:pPr marL="285750" indent="-285750"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Audit &amp; Management:</a:t>
            </a:r>
            <a:r>
              <a:rPr lang="en-US" dirty="0">
                <a:ea typeface="+mn-lt"/>
                <a:cs typeface="+mn-lt"/>
              </a:rPr>
              <a:t> Admin tools for user verification, account management, and system integrity.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73C898-2D4A-9F21-9B34-D74D12AA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906" y="301923"/>
            <a:ext cx="5015170" cy="3810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142891-0DB5-0325-E391-436DAEA8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048" y="4463271"/>
            <a:ext cx="5024887" cy="20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5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E61352-1920-1A62-43A4-937BFCA5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2890" y="395774"/>
            <a:ext cx="3722951" cy="731434"/>
          </a:xfrm>
        </p:spPr>
        <p:txBody>
          <a:bodyPr>
            <a:noAutofit/>
          </a:bodyPr>
          <a:lstStyle/>
          <a:p>
            <a:r>
              <a:rPr lang="en-US" sz="2400" b="0" dirty="0">
                <a:solidFill>
                  <a:srgbClr val="0070C0"/>
                </a:solidFill>
                <a:ea typeface="+mj-lt"/>
                <a:cs typeface="+mj-lt"/>
              </a:rPr>
              <a:t>Workflows &amp; System Architecture</a:t>
            </a:r>
            <a:endParaRPr lang="en-US" sz="2400">
              <a:solidFill>
                <a:srgbClr val="0070C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E19BD-5A90-6858-1019-900A42DDAC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2827" y="1134308"/>
            <a:ext cx="3723717" cy="54292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1600" b="1" dirty="0" err="1">
                <a:ea typeface="+mn-lt"/>
                <a:cs typeface="+mn-lt"/>
              </a:rPr>
              <a:t>Organisations</a:t>
            </a:r>
            <a:r>
              <a:rPr lang="en-US" sz="1600" b="1" dirty="0">
                <a:ea typeface="+mn-lt"/>
                <a:cs typeface="+mn-lt"/>
              </a:rPr>
              <a:t> (Shelters, Pantries, NGOs):</a:t>
            </a:r>
            <a:r>
              <a:rPr lang="en-US" sz="1600" dirty="0">
                <a:ea typeface="+mn-lt"/>
                <a:cs typeface="+mn-lt"/>
              </a:rPr>
              <a:t>Post food-aid requests with headcount, location, and date needs.</a:t>
            </a:r>
            <a:endParaRPr lang="en-US"/>
          </a:p>
          <a:p>
            <a:pPr marL="285750" indent="-285750">
              <a:buFont typeface="Wingdings"/>
              <a:buChar char="§"/>
            </a:pPr>
            <a:r>
              <a:rPr lang="en-US" sz="1600" b="1" dirty="0">
                <a:ea typeface="+mn-lt"/>
                <a:cs typeface="+mn-lt"/>
              </a:rPr>
              <a:t>Donors (Restaurants, Businesses, Individuals):</a:t>
            </a:r>
            <a:r>
              <a:rPr lang="en-US" sz="1600" dirty="0">
                <a:ea typeface="+mn-lt"/>
                <a:cs typeface="+mn-lt"/>
              </a:rPr>
              <a:t> Browse requests, pledge surplus food, and choose delivery methods.</a:t>
            </a:r>
          </a:p>
          <a:p>
            <a:pPr marL="285750" indent="-285750">
              <a:buFont typeface="Wingdings"/>
              <a:buChar char="§"/>
            </a:pPr>
            <a:r>
              <a:rPr lang="en-US" sz="1600" b="1" dirty="0">
                <a:ea typeface="+mn-lt"/>
                <a:cs typeface="+mn-lt"/>
              </a:rPr>
              <a:t>Volunteers (Couriers, Drivers):</a:t>
            </a:r>
            <a:r>
              <a:rPr lang="en-US" sz="1600" dirty="0">
                <a:ea typeface="+mn-lt"/>
                <a:cs typeface="+mn-lt"/>
              </a:rPr>
              <a:t> Accept delivery jobs, manage pickups, and coordinate drop-offs.</a:t>
            </a:r>
          </a:p>
          <a:p>
            <a:pPr marL="285750" indent="-285750">
              <a:buFont typeface="Wingdings"/>
              <a:buChar char="§"/>
            </a:pPr>
            <a:r>
              <a:rPr lang="en-US" sz="1600" b="1" dirty="0">
                <a:ea typeface="+mn-lt"/>
                <a:cs typeface="+mn-lt"/>
              </a:rPr>
              <a:t>Admins (Platform Managers):</a:t>
            </a:r>
            <a:r>
              <a:rPr lang="en-US" sz="1600" dirty="0">
                <a:ea typeface="+mn-lt"/>
                <a:cs typeface="+mn-lt"/>
              </a:rPr>
              <a:t>Oversee registrations, audit system activity, and ensure compliance</a:t>
            </a:r>
          </a:p>
          <a:p>
            <a:pPr marL="285750" indent="-285750">
              <a:buFont typeface="Wingdings"/>
              <a:buChar char="§"/>
            </a:pPr>
            <a:r>
              <a:rPr lang="en-US" sz="1600" b="1" dirty="0">
                <a:ea typeface="+mn-lt"/>
                <a:cs typeface="+mn-lt"/>
              </a:rPr>
              <a:t>Technology Stack:</a:t>
            </a:r>
            <a:r>
              <a:rPr lang="en-US" sz="1600" dirty="0">
                <a:ea typeface="+mn-lt"/>
                <a:cs typeface="+mn-lt"/>
              </a:rPr>
              <a:t> Built using React.js, Tailwind CSS, Node.js, Express.js, and MongoDB</a:t>
            </a:r>
          </a:p>
          <a:p>
            <a:pPr marL="285750" indent="-285750">
              <a:buFont typeface="Wingdings"/>
              <a:buChar char="§"/>
            </a:pPr>
            <a:endParaRPr lang="en-US" sz="20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CB60138-2048-55F9-3514-D1AAAC924A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370" r="20370"/>
          <a:stretch/>
        </p:blipFill>
        <p:spPr>
          <a:xfrm>
            <a:off x="190501" y="392205"/>
            <a:ext cx="7956175" cy="6174443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 l="-1" r="-8457"/>
            </a:stretch>
          </a:blipFill>
        </p:spPr>
      </p:pic>
    </p:spTree>
    <p:extLst>
      <p:ext uri="{BB962C8B-B14F-4D97-AF65-F5344CB8AC3E}">
        <p14:creationId xmlns:p14="http://schemas.microsoft.com/office/powerpoint/2010/main" val="276697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63E2-FF38-A0E1-FBA1-2251C2A9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16" y="4017533"/>
            <a:ext cx="2765077" cy="1434353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0070C0"/>
                </a:solidFill>
                <a:ea typeface="+mj-lt"/>
                <a:cs typeface="+mj-lt"/>
              </a:rPr>
              <a:t>Feasibility &amp; Viability Analysis</a:t>
            </a:r>
            <a:br>
              <a:rPr lang="en-US" b="0" dirty="0">
                <a:solidFill>
                  <a:srgbClr val="0070C0"/>
                </a:solidFill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endParaRPr lang="en-US" b="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68A00-55CF-4F9A-3BD1-AE0BA9833E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53474" y="4022910"/>
            <a:ext cx="8861879" cy="26295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Technical Feasibility:</a:t>
            </a:r>
            <a:r>
              <a:rPr lang="en-US" dirty="0">
                <a:ea typeface="+mn-lt"/>
                <a:cs typeface="+mn-lt"/>
              </a:rPr>
              <a:t> Built using industry-standard web tech (MERN stack), ensuring high modularity, easy local debugging, and smooth cloud deployment capabilities (</a:t>
            </a:r>
            <a:r>
              <a:rPr lang="en-US" dirty="0" err="1">
                <a:ea typeface="+mn-lt"/>
                <a:cs typeface="+mn-lt"/>
              </a:rPr>
              <a:t>Vercel</a:t>
            </a:r>
            <a:r>
              <a:rPr lang="en-US" dirty="0">
                <a:ea typeface="+mn-lt"/>
                <a:cs typeface="+mn-lt"/>
              </a:rPr>
              <a:t> + Render).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Economic Viability:</a:t>
            </a:r>
            <a:r>
              <a:rPr lang="en-US" dirty="0">
                <a:ea typeface="+mn-lt"/>
                <a:cs typeface="+mn-lt"/>
              </a:rPr>
              <a:t> Low-cost infrastructure utilizing modern cloud tiers, open-source libraries, and serverless/containerized hosting.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Operational Feasibility:</a:t>
            </a:r>
            <a:r>
              <a:rPr lang="en-US" dirty="0">
                <a:ea typeface="+mn-lt"/>
                <a:cs typeface="+mn-lt"/>
              </a:rPr>
              <a:t> Intuitive UI/UX design reduces the learning curve for non-technical volunteers and community shelter managers.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3600D-F8F0-F1AB-B9E9-173A0A0E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12" y="600323"/>
            <a:ext cx="6073590" cy="3035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698110-8D2D-9C0F-17E9-A1A5F2BA1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598130"/>
            <a:ext cx="5244355" cy="3017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0A74E6-AC9F-8303-31C6-5B017383129D}"/>
              </a:ext>
            </a:extLst>
          </p:cNvPr>
          <p:cNvSpPr txBox="1"/>
          <p:nvPr/>
        </p:nvSpPr>
        <p:spPr>
          <a:xfrm>
            <a:off x="302928" y="5712373"/>
            <a:ext cx="26975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Poppins Light"/>
              </a:rPr>
              <a:t>Solution(video): </a:t>
            </a:r>
            <a:r>
              <a:rPr lang="en-US" dirty="0">
                <a:cs typeface="Poppins Light"/>
                <a:hlinkClick r:id="rId4"/>
              </a:rPr>
              <a:t>Link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656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772F-1D1B-134C-1CC1-6CFCCAB5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709" y="353211"/>
            <a:ext cx="4871784" cy="1199029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0070C0"/>
                </a:solidFill>
                <a:ea typeface="+mj-lt"/>
                <a:cs typeface="+mj-lt"/>
              </a:rPr>
              <a:t>Impact Statement &amp; Societal Benefits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15D9B-9A5E-2EA9-035F-5A519EE6E7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30709" y="1546411"/>
            <a:ext cx="4872586" cy="4960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Quantifiable Social &amp; Environmental Shifts:</a:t>
            </a:r>
            <a:endParaRPr lang="en-US" sz="2000"/>
          </a:p>
          <a:p>
            <a:pPr marL="285750" indent="-285750">
              <a:buFont typeface="Wingdings"/>
              <a:buChar char="q"/>
            </a:pPr>
            <a:r>
              <a:rPr lang="en-US" b="1" dirty="0">
                <a:ea typeface="+mn-lt"/>
                <a:cs typeface="+mn-lt"/>
              </a:rPr>
              <a:t>For Hungry Communities:</a:t>
            </a:r>
            <a:r>
              <a:rPr lang="en-US" dirty="0">
                <a:ea typeface="+mn-lt"/>
                <a:cs typeface="+mn-lt"/>
              </a:rPr>
              <a:t> Reliable, consistent, and safe access to daily nutrition.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b="1" dirty="0">
                <a:ea typeface="+mn-lt"/>
                <a:cs typeface="+mn-lt"/>
              </a:rPr>
              <a:t>For Food Businesses:</a:t>
            </a:r>
            <a:r>
              <a:rPr lang="en-US" dirty="0">
                <a:ea typeface="+mn-lt"/>
                <a:cs typeface="+mn-lt"/>
              </a:rPr>
              <a:t> Reduced waste disposal costs and streamlined Corporate Social Responsibility (CSR) compliance.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b="1" dirty="0">
                <a:ea typeface="+mn-lt"/>
                <a:cs typeface="+mn-lt"/>
              </a:rPr>
              <a:t>For Volunteers:</a:t>
            </a:r>
            <a:r>
              <a:rPr lang="en-US" dirty="0">
                <a:ea typeface="+mn-lt"/>
                <a:cs typeface="+mn-lt"/>
              </a:rPr>
              <a:t> A structured, trackable, and gamified way to contribute to society.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b="1" dirty="0">
                <a:ea typeface="+mn-lt"/>
                <a:cs typeface="+mn-lt"/>
              </a:rPr>
              <a:t>For Society:</a:t>
            </a:r>
            <a:r>
              <a:rPr lang="en-US" dirty="0">
                <a:ea typeface="+mn-lt"/>
                <a:cs typeface="+mn-lt"/>
              </a:rPr>
              <a:t> Lower organic waste in landfills, directly cutting down greenhouse gas (methane) emissions.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ABA5139-61F4-9443-A719-905AE93689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3208" r="33208"/>
          <a:stretch/>
        </p:blipFill>
        <p:spPr>
          <a:xfrm>
            <a:off x="246528" y="354416"/>
            <a:ext cx="6678707" cy="3515784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 r="-8031"/>
            </a:stretch>
          </a:blip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D7AFC-DE33-0078-134B-212A71876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29" y="3861036"/>
            <a:ext cx="6678705" cy="278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223728-0310-28AC-9DF0-74DB4A10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70" y="4974622"/>
            <a:ext cx="5026042" cy="1134978"/>
          </a:xfrm>
        </p:spPr>
        <p:txBody>
          <a:bodyPr/>
          <a:lstStyle/>
          <a:p>
            <a:r>
              <a:rPr lang="en-US" b="0" dirty="0">
                <a:solidFill>
                  <a:srgbClr val="0070C0"/>
                </a:solidFill>
                <a:ea typeface="+mj-lt"/>
                <a:cs typeface="+mj-lt"/>
              </a:rPr>
              <a:t>Future Scope &amp; Scalability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AC2A31-C8C2-4C0E-07B6-7E2F6EE01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12179" y="849444"/>
            <a:ext cx="5295472" cy="4834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Advanced AI Integration:</a:t>
            </a:r>
            <a:endParaRPr lang="en-US" sz="2400"/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Predictive demand forecasting to anticipate food surpluses in specific neighborhoods using historical data.</a:t>
            </a:r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Smart route optimization algorithms for volunteers to minimize transit time and fuel consumption.</a:t>
            </a:r>
          </a:p>
          <a:p>
            <a:r>
              <a:rPr lang="en-US" sz="2400" b="1" dirty="0">
                <a:ea typeface="+mn-lt"/>
                <a:cs typeface="+mn-lt"/>
              </a:rPr>
              <a:t>Platform Expansion:</a:t>
            </a:r>
            <a:endParaRPr lang="en-US" sz="2400"/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Mobile application wrapper (React Native) for push notifications and GPS tracking.</a:t>
            </a:r>
            <a:endParaRPr lang="en-US" dirty="0"/>
          </a:p>
          <a:p>
            <a:pPr marL="285750" indent="-285750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Integration with local municipal food waste management systems.</a:t>
            </a:r>
          </a:p>
          <a:p>
            <a:endParaRPr lang="en-US" b="1" dirty="0">
              <a:latin typeface="Poppins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447AE27-3FAF-F692-44C6-4505B6A997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6863" b="16863"/>
          <a:stretch/>
        </p:blipFill>
        <p:spPr>
          <a:xfrm>
            <a:off x="666093" y="602916"/>
            <a:ext cx="5025322" cy="4213546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 b="159"/>
            </a:stretch>
          </a:blipFill>
        </p:spPr>
      </p:pic>
    </p:spTree>
    <p:extLst>
      <p:ext uri="{BB962C8B-B14F-4D97-AF65-F5344CB8AC3E}">
        <p14:creationId xmlns:p14="http://schemas.microsoft.com/office/powerpoint/2010/main" val="4247410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BC4E-AE95-03B8-85AD-08B8F63C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45" y="2572791"/>
            <a:ext cx="2983018" cy="1422697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0070C0"/>
                </a:solidFill>
                <a:ea typeface="+mj-lt"/>
                <a:cs typeface="+mj-lt"/>
              </a:rPr>
              <a:t>Conclusion &amp; Research Reference</a:t>
            </a:r>
            <a:br>
              <a:rPr lang="en-US" b="0" dirty="0">
                <a:solidFill>
                  <a:srgbClr val="0070C0"/>
                </a:solidFill>
                <a:ea typeface="+mj-lt"/>
                <a:cs typeface="+mj-lt"/>
              </a:rPr>
            </a:br>
            <a:br>
              <a:rPr lang="en-US" b="0" dirty="0"/>
            </a:br>
            <a:endParaRPr lang="en-US" sz="1400" b="0">
              <a:solidFill>
                <a:srgbClr val="0070C0"/>
              </a:solidFill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20D1-4DDE-3BC8-CA2E-F5DFC2C5D1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7796" y="2467620"/>
            <a:ext cx="8490694" cy="415693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2400" b="1" dirty="0">
                <a:ea typeface="+mn-lt"/>
                <a:cs typeface="+mn-lt"/>
              </a:rPr>
              <a:t>Summary:</a:t>
            </a:r>
            <a:r>
              <a:rPr lang="en-US" sz="2400" dirty="0">
                <a:ea typeface="+mn-lt"/>
                <a:cs typeface="+mn-lt"/>
              </a:rPr>
              <a:t> 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ZeroHunger</a:t>
            </a:r>
            <a:r>
              <a:rPr lang="en-US" dirty="0">
                <a:ea typeface="+mn-lt"/>
                <a:cs typeface="+mn-lt"/>
              </a:rPr>
              <a:t> bridges the gap between digital innovation and social good, turning logistical chaos into an organized ecosystem.</a:t>
            </a:r>
            <a:endParaRPr lang="en-US"/>
          </a:p>
          <a:p>
            <a:r>
              <a:rPr lang="en-US" sz="2400" b="1" dirty="0">
                <a:ea typeface="+mn-lt"/>
                <a:cs typeface="+mn-lt"/>
              </a:rPr>
              <a:t>Key Takeaway for Students: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Think critically about real-world friction.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Apply scalable software design with purpose.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Build technology that creates measurable human impact.</a:t>
            </a:r>
            <a:endParaRPr lang="en-US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References &amp; Research Work: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UN Sustainable Development Goals (SDG 2 Framework) </a:t>
            </a:r>
            <a:r>
              <a:rPr lang="en-US" dirty="0">
                <a:ea typeface="+mn-lt"/>
                <a:cs typeface="+mn-lt"/>
                <a:hlinkClick r:id="rId2"/>
              </a:rPr>
              <a:t>Link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MERN Stack Architectural Patterns &amp; Supply Chain Digitization Research Papers </a:t>
            </a:r>
            <a:r>
              <a:rPr lang="en-US" dirty="0">
                <a:ea typeface="+mn-lt"/>
                <a:cs typeface="+mn-lt"/>
                <a:hlinkClick r:id="rId3"/>
              </a:rPr>
              <a:t>Link</a:t>
            </a:r>
            <a:endParaRPr lang="en-US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52A8A-F12F-D771-93B2-AD7761637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17" y="215994"/>
            <a:ext cx="11613775" cy="22462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80506A-135F-D70A-7EDC-B2B91A8B6F8E}"/>
              </a:ext>
            </a:extLst>
          </p:cNvPr>
          <p:cNvSpPr txBox="1"/>
          <p:nvPr/>
        </p:nvSpPr>
        <p:spPr>
          <a:xfrm>
            <a:off x="438701" y="3999983"/>
            <a:ext cx="297456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Poppins Light"/>
              </a:rPr>
              <a:t>PROJECT</a:t>
            </a:r>
            <a:r>
              <a:rPr lang="en-US" dirty="0">
                <a:hlinkClick r:id="rId5"/>
              </a:rPr>
              <a:t>(Link)</a:t>
            </a:r>
            <a:r>
              <a:rPr lang="en-US" dirty="0">
                <a:cs typeface="Poppins Light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5"/>
              </a:rPr>
              <a:t>https://zero-ruby-eight.vercel.app/login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  <a:hlinkClick r:id="rId5"/>
            </a:endParaRPr>
          </a:p>
          <a:p>
            <a:r>
              <a:rPr lang="en-US" dirty="0">
                <a:ea typeface="+mn-lt"/>
                <a:cs typeface="+mn-lt"/>
              </a:rPr>
              <a:t>GitHub</a:t>
            </a:r>
            <a:r>
              <a:rPr lang="en-US" dirty="0">
                <a:ea typeface="+mn-lt"/>
                <a:cs typeface="+mn-lt"/>
                <a:hlinkClick r:id="rId6"/>
              </a:rPr>
              <a:t>(Link)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6"/>
              </a:rPr>
              <a:t>https://github.com/Sandip-Maity-2023/Zero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</a:t>
            </a:r>
            <a:br>
              <a:rPr lang="en-US" dirty="0">
                <a:ea typeface="+mn-lt"/>
                <a:cs typeface="+mn-lt"/>
              </a:rPr>
            </a:br>
            <a:endParaRPr lang="en-US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751387150"/>
      </p:ext>
    </p:extLst>
  </p:cSld>
  <p:clrMapOvr>
    <a:masterClrMapping/>
  </p:clrMapOvr>
</p:sld>
</file>

<file path=ppt/theme/theme1.xml><?xml version="1.0" encoding="utf-8"?>
<a:theme xmlns:a="http://schemas.openxmlformats.org/drawingml/2006/main" name="Epic Nature">
  <a:themeElements>
    <a:clrScheme name="Finance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0C262"/>
      </a:accent1>
      <a:accent2>
        <a:srgbClr val="FEB8B8"/>
      </a:accent2>
      <a:accent3>
        <a:srgbClr val="6B2138"/>
      </a:accent3>
      <a:accent4>
        <a:srgbClr val="FC5316"/>
      </a:accent4>
      <a:accent5>
        <a:srgbClr val="B7D9FE"/>
      </a:accent5>
      <a:accent6>
        <a:srgbClr val="263343"/>
      </a:accent6>
      <a:hlink>
        <a:srgbClr val="467886"/>
      </a:hlink>
      <a:folHlink>
        <a:srgbClr val="96607D"/>
      </a:folHlink>
    </a:clrScheme>
    <a:fontScheme name="B&amp;W Minimalist Drama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W minimalist finance presentation_win32_DN_v2" id="{992472E5-D41A-4065-A484-868BE56B4712}" vid="{4BE192B5-7531-40E5-BCC9-1BA14634D2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4B9AF2-5B11-48FF-A8A8-964B2D972562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492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Epic Nature</vt:lpstr>
      <vt:lpstr>Zero Hunger: Digital Food-Aid Supply Chain Platform  UN Sustainable Development Goal 2 (Zero Hunger) </vt:lpstr>
      <vt:lpstr>Problem Statement &amp; Motivation  Food Insecurity Is Primarily A Coordination Failure Where Surplus Food Goes To Waste While Vulnerable Communities Lack A Unified Digital Tracking System To Bridge The Gap. </vt:lpstr>
      <vt:lpstr>Solution Overview &amp; Features  A Full-stack Web Application That Digitizes The Entire Food-aid Supply Chain, Connecting Surplus Food Sources With Communities That Need It Most.</vt:lpstr>
      <vt:lpstr>Workflows &amp; System Architecture</vt:lpstr>
      <vt:lpstr>Feasibility &amp; Viability Analysis  </vt:lpstr>
      <vt:lpstr>Impact Statement &amp; Societal Benefits</vt:lpstr>
      <vt:lpstr>Future Scope &amp; Scalability</vt:lpstr>
      <vt:lpstr>Conclusion &amp; Research Reference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Hunger: Digital Food-Aid Supply Chain Platform  UN Sustainable Development Goal 2 (Zero Hunger) </dc:title>
  <dc:creator/>
  <cp:lastModifiedBy>sandip maity</cp:lastModifiedBy>
  <cp:revision>346</cp:revision>
  <dcterms:created xsi:type="dcterms:W3CDTF">2026-09-20T07:49:52Z</dcterms:created>
  <dcterms:modified xsi:type="dcterms:W3CDTF">2026-09-20T13:26:50Z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